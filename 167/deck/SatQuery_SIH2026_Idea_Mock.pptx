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IDEA SLIDE — keep the three template pointers: explanation, how it addresses the problem, innovation. Improve: (1) swap the screenshot for a fresh one from the latest build; (2) the numbers under it come from the built-in SYNTHETIC scene — keep the disclosure; (3) fill the model line from the separate model document. Source: docs/11_Presentation_Guide.md §1, §4, §14.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TECHNICAL APPROACH — left: technologies; right: the real pipeline order from satquery/pipeline.py. Improve: add logos instead of icons if you prefer the winners' style; fill the AI model box and links; keep the REFUSE and ABSTAIN branches — they are our differentiator. Source: guide §5–§7.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FEASIBILITY — column headers are the template's three pointers, verbatim. The six numbers are measured by `python -m satquery.cli eval` on SYNTHETIC scenes — keep that label. Do not add router accuracy (not a real metric yet). Add model numbers only from the model document. Source: guide §13, §17.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IMPACT — two template pointers as the two panels. The comparison table is qualitative: ✓ = does it, ✗ = does not, ◐ = partly. Improve: add ONE sourced statistic (e.g. cloud cover over India in monsoon, or an official figure on flood mapping delays) with its citation on slide 6. Never invent a number.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REFERENCES — [1]–[3] come from our repo and the PS. [4], [6], [7] are standard citations: open each and confirm before submitting. [5] needs its full citation added. Add the model papers from the model document. Replace every orange [[...]] placeholder. Export as PDF — the portal accepts PDF only.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— fill Team ID and Team Name exactly as registered on the SIH portal. The Problem Statement Title is verbatim from the official PS; do not shorten it. The "SatQuery AI" line replaces the template's "TITLE PAGE" label — keep or remove.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17.png"/><Relationship Id="rId10" Type="http://schemas.openxmlformats.org/officeDocument/2006/relationships/image" Target="../media/image16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Relationship Id="rId8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sz="2800" b="1">
                <a:solidFill>
                  <a:srgbClr val="0B6FB8"/>
                </a:solidFill>
              </a:rPr>
              <a:t>SatQuery AI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endParaRPr lang="en-US" dirty="0"/>
          </a:p>
          <a:p>
            <a:pPr marL="285750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sz="2000" b="1">
                <a:solidFill>
                  <a:srgbClr val="2E7D4F"/>
                </a:solidFill>
                <a:latin typeface="Arial"/>
              </a:rPr>
              <a:t>26167</a:t>
            </a:r>
          </a:p>
          <a:p>
            <a:pPr marL="285750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sz="1600" b="1">
                <a:solidFill>
                  <a:srgbClr val="2E7D4F"/>
                </a:solidFill>
                <a:latin typeface="Arial"/>
              </a:rPr>
              <a:t>SatQuery AI: An Interactive Vision-Language Assistant for Multimodal Remote Sensing Image Analysis through Text Queries</a:t>
            </a:r>
          </a:p>
          <a:p>
            <a:pPr marL="285750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sz="2000" b="1">
                <a:solidFill>
                  <a:srgbClr val="2E7D4F"/>
                </a:solidFill>
                <a:latin typeface="Arial"/>
              </a:rPr>
              <a:t>Space Technology</a:t>
            </a:r>
          </a:p>
          <a:p>
            <a:pPr marL="285750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sz="2000" b="1">
                <a:solidFill>
                  <a:srgbClr val="2E7D4F"/>
                </a:solidFill>
                <a:latin typeface="Arial"/>
              </a:rPr>
              <a:t>Software</a:t>
            </a:r>
          </a:p>
          <a:p>
            <a:pPr marL="285750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sz="2000" b="1" i="1">
                <a:solidFill>
                  <a:srgbClr val="D9661F"/>
                </a:solidFill>
                <a:latin typeface="Arial"/>
              </a:rPr>
              <a:t>to be filled</a:t>
            </a:r>
          </a:p>
          <a:p>
            <a:pPr marL="285750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sz="2000" b="1" i="1">
                <a:solidFill>
                  <a:srgbClr val="D9661F"/>
                </a:solidFill>
                <a:latin typeface="Arial"/>
              </a:rPr>
              <a:t>[Team Name</a:t>
            </a:r>
            <a:r>
              <a:rPr sz="2000" b="1">
                <a:solidFill>
                  <a:srgbClr val="1A1A1A"/>
                </a:solidFill>
                <a:latin typeface="Arial"/>
              </a:rPr>
              <a:t>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ctr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SatQuery AI — Ask Satellite Imagery a Question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65760" y="1097280"/>
            <a:ext cx="877824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6FB8"/>
                </a:solidFill>
                <a:latin typeface="Calibri"/>
              </a:rPr>
              <a:t>Proposed Solution (Describe your Idea/Solution/Prototype)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365760" y="1481328"/>
            <a:ext cx="1554480" cy="256032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65760" y="1783080"/>
            <a:ext cx="7406640" cy="932688"/>
          </a:xfrm>
          <a:prstGeom prst="roundRect">
            <a:avLst>
              <a:gd name="adj" fmla="val 8000"/>
            </a:avLst>
          </a:prstGeom>
          <a:solidFill>
            <a:srgbClr val="F9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5" name="TextBox 15364"/>
          <p:cNvSpPr txBox="1"/>
          <p:nvPr/>
        </p:nvSpPr>
        <p:spPr>
          <a:xfrm>
            <a:off x="502920" y="1828800"/>
            <a:ext cx="722376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6304" indent="-146304">
              <a:spcAft>
                <a:spcPts val="300"/>
              </a:spcAft>
              <a:buChar char="•"/>
            </a:pPr>
            <a:r>
              <a:rPr sz="1200" b="1">
                <a:solidFill>
                  <a:srgbClr val="C0392B"/>
                </a:solidFill>
                <a:latin typeface="Calibri"/>
              </a:rPr>
              <a:t>No interface accepts a question</a:t>
            </a:r>
            <a:r>
              <a:rPr sz="1200" b="0">
                <a:solidFill>
                  <a:srgbClr val="1A1A1A"/>
                </a:solidFill>
                <a:latin typeface="Calibri"/>
              </a:rPr>
              <a:t> — every remote-sensing tool is single-task and needs a GIS expert.</a:t>
            </a:r>
          </a:p>
          <a:p>
            <a:pPr algn="l" marL="146304" indent="-146304">
              <a:spcAft>
                <a:spcPts val="300"/>
              </a:spcAft>
              <a:buChar char="•"/>
            </a:pPr>
            <a:r>
              <a:rPr sz="1200" b="1">
                <a:solidFill>
                  <a:srgbClr val="C0392B"/>
                </a:solidFill>
                <a:latin typeface="Calibri"/>
              </a:rPr>
              <a:t>One image is often not enough</a:t>
            </a:r>
            <a:r>
              <a:rPr sz="1200" b="0">
                <a:solidFill>
                  <a:srgbClr val="1A1A1A"/>
                </a:solidFill>
                <a:latin typeface="Calibri"/>
              </a:rPr>
              <a:t> — cloud blocks optical sensors; change needs two dates.</a:t>
            </a:r>
          </a:p>
          <a:p>
            <a:pPr algn="l" marL="146304" indent="-146304">
              <a:spcAft>
                <a:spcPts val="300"/>
              </a:spcAft>
              <a:buChar char="•"/>
            </a:pPr>
            <a:r>
              <a:rPr sz="1200" b="1">
                <a:solidFill>
                  <a:srgbClr val="C0392B"/>
                </a:solidFill>
                <a:latin typeface="Calibri"/>
              </a:rPr>
              <a:t>Generic AI chatbots invent numbers</a:t>
            </a:r>
            <a:r>
              <a:rPr sz="1200" b="0">
                <a:solidFill>
                  <a:srgbClr val="1A1A1A"/>
                </a:solidFill>
                <a:latin typeface="Calibri"/>
              </a:rPr>
              <a:t> and cannot show why they answered.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365760" y="2816352"/>
            <a:ext cx="3291840" cy="256032"/>
          </a:xfrm>
          <a:prstGeom prst="roundRect">
            <a:avLst>
              <a:gd name="adj" fmla="val 8000"/>
            </a:avLst>
          </a:prstGeom>
          <a:solidFill>
            <a:srgbClr val="0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OUR SOLUTION — HOW IT ADDRESSES IT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365760" y="3118104"/>
            <a:ext cx="7406640" cy="1188720"/>
          </a:xfrm>
          <a:prstGeom prst="roundRect">
            <a:avLst>
              <a:gd name="adj" fmla="val 8000"/>
            </a:avLst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8" name="TextBox 15367"/>
          <p:cNvSpPr txBox="1"/>
          <p:nvPr/>
        </p:nvSpPr>
        <p:spPr>
          <a:xfrm>
            <a:off x="502920" y="3163824"/>
            <a:ext cx="7223760" cy="11155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6304" indent="-146304">
              <a:spcAft>
                <a:spcPts val="300"/>
              </a:spcAft>
              <a:buChar char="•"/>
            </a:pPr>
            <a:r>
              <a:rPr sz="1200" b="0">
                <a:solidFill>
                  <a:srgbClr val="1A1A1A"/>
                </a:solidFill>
                <a:latin typeface="Calibri"/>
              </a:rPr>
              <a:t>Upload </a:t>
            </a:r>
            <a:r>
              <a:rPr sz="1200" b="1">
                <a:solidFill>
                  <a:srgbClr val="0B6FB8"/>
                </a:solidFill>
                <a:latin typeface="Calibri"/>
              </a:rPr>
              <a:t>GeoTIFF imagery</a:t>
            </a:r>
            <a:r>
              <a:rPr sz="1200" b="0">
                <a:solidFill>
                  <a:srgbClr val="1A1A1A"/>
                </a:solidFill>
                <a:latin typeface="Calibri"/>
              </a:rPr>
              <a:t> — one image, an </a:t>
            </a:r>
            <a:r>
              <a:rPr sz="1200" b="1">
                <a:solidFill>
                  <a:srgbClr val="0B6FB8"/>
                </a:solidFill>
                <a:latin typeface="Calibri"/>
              </a:rPr>
              <a:t>optical + SAR pair</a:t>
            </a:r>
            <a:r>
              <a:rPr sz="1200" b="0">
                <a:solidFill>
                  <a:srgbClr val="1A1A1A"/>
                </a:solidFill>
                <a:latin typeface="Calibri"/>
              </a:rPr>
              <a:t>, or </a:t>
            </a:r>
            <a:r>
              <a:rPr sz="1200" b="1">
                <a:solidFill>
                  <a:srgbClr val="0B6FB8"/>
                </a:solidFill>
                <a:latin typeface="Calibri"/>
              </a:rPr>
              <a:t>two dates</a:t>
            </a:r>
            <a:r>
              <a:rPr sz="1200" b="0">
                <a:solidFill>
                  <a:srgbClr val="1A1A1A"/>
                </a:solidFill>
                <a:latin typeface="Calibri"/>
              </a:rPr>
              <a:t> — and ask in plain English.</a:t>
            </a:r>
          </a:p>
          <a:p>
            <a:pPr algn="l" marL="146304" indent="-146304">
              <a:spcAft>
                <a:spcPts val="300"/>
              </a:spcAft>
              <a:buChar char="•"/>
            </a:pPr>
            <a:r>
              <a:rPr sz="1200" b="0">
                <a:solidFill>
                  <a:srgbClr val="1A1A1A"/>
                </a:solidFill>
                <a:latin typeface="Calibri"/>
              </a:rPr>
              <a:t>An </a:t>
            </a:r>
            <a:r>
              <a:rPr sz="1200" b="1">
                <a:solidFill>
                  <a:srgbClr val="0B6FB8"/>
                </a:solidFill>
                <a:latin typeface="Calibri"/>
              </a:rPr>
              <a:t>agentic router</a:t>
            </a:r>
            <a:r>
              <a:rPr sz="1200" b="0">
                <a:solidFill>
                  <a:srgbClr val="1A1A1A"/>
                </a:solidFill>
                <a:latin typeface="Calibri"/>
              </a:rPr>
              <a:t> classifies the task, </a:t>
            </a:r>
            <a:r>
              <a:rPr sz="1200" b="1">
                <a:solidFill>
                  <a:srgbClr val="0B6FB8"/>
                </a:solidFill>
                <a:latin typeface="Calibri"/>
              </a:rPr>
              <a:t>checks the inputs</a:t>
            </a:r>
            <a:r>
              <a:rPr sz="1200" b="0">
                <a:solidFill>
                  <a:srgbClr val="1A1A1A"/>
                </a:solidFill>
                <a:latin typeface="Calibri"/>
              </a:rPr>
              <a:t>, and runs the right specialist from a </a:t>
            </a:r>
            <a:r>
              <a:rPr sz="1200" b="1">
                <a:solidFill>
                  <a:srgbClr val="0B6FB8"/>
                </a:solidFill>
                <a:latin typeface="Calibri"/>
              </a:rPr>
              <a:t>fixed tool registry</a:t>
            </a:r>
            <a:r>
              <a:rPr sz="12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 marL="146304" indent="-146304">
              <a:spcAft>
                <a:spcPts val="300"/>
              </a:spcAft>
              <a:buChar char="•"/>
            </a:pPr>
            <a:r>
              <a:rPr sz="1200" b="0">
                <a:solidFill>
                  <a:srgbClr val="1A1A1A"/>
                </a:solidFill>
                <a:latin typeface="Calibri"/>
              </a:rPr>
              <a:t>Returns an </a:t>
            </a:r>
            <a:r>
              <a:rPr sz="1200" b="1">
                <a:solidFill>
                  <a:srgbClr val="0B6FB8"/>
                </a:solidFill>
                <a:latin typeface="Calibri"/>
              </a:rPr>
              <a:t>answer + map evidence (lat/long) + calibrated confidence + execution trace + report</a:t>
            </a:r>
            <a:r>
              <a:rPr sz="12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 marL="146304" indent="-146304">
              <a:spcAft>
                <a:spcPts val="300"/>
              </a:spcAft>
              <a:buChar char="•"/>
            </a:pPr>
            <a:r>
              <a:rPr sz="1200" b="0">
                <a:solidFill>
                  <a:srgbClr val="1A1A1A"/>
                </a:solidFill>
                <a:latin typeface="Calibri"/>
              </a:rPr>
              <a:t>Specialists for </a:t>
            </a:r>
            <a:r>
              <a:rPr sz="1200" b="1">
                <a:solidFill>
                  <a:srgbClr val="0B6FB8"/>
                </a:solidFill>
                <a:latin typeface="Calibri"/>
              </a:rPr>
              <a:t>VQA, grounding, change analysis and optical–SAR fusion</a:t>
            </a:r>
            <a:r>
              <a:rPr sz="1200" b="0">
                <a:solidFill>
                  <a:srgbClr val="1A1A1A"/>
                </a:solidFill>
                <a:latin typeface="Calibri"/>
              </a:rPr>
              <a:t>; adapted AI model: </a:t>
            </a:r>
            <a:r>
              <a:rPr sz="1200" b="1" i="1">
                <a:solidFill>
                  <a:srgbClr val="D9661F"/>
                </a:solidFill>
                <a:latin typeface="Calibri"/>
              </a:rPr>
              <a:t>see model section</a:t>
            </a:r>
            <a:r>
              <a:rPr sz="1200" b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365760" y="4407408"/>
            <a:ext cx="2377440" cy="256032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INNOVATION &amp; UNIQUENESS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365760" y="4727448"/>
            <a:ext cx="36576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1" name="Oval 15370"/>
          <p:cNvSpPr/>
          <p:nvPr/>
        </p:nvSpPr>
        <p:spPr>
          <a:xfrm>
            <a:off x="475488" y="4873752"/>
            <a:ext cx="420624" cy="42062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2" name="Picture 15371" descr="FaShield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025" y="4966289"/>
            <a:ext cx="235549" cy="235549"/>
          </a:xfrm>
          <a:prstGeom prst="rect">
            <a:avLst/>
          </a:prstGeom>
        </p:spPr>
      </p:pic>
      <p:sp>
        <p:nvSpPr>
          <p:cNvPr id="15373" name="TextBox 15372"/>
          <p:cNvSpPr txBox="1"/>
          <p:nvPr/>
        </p:nvSpPr>
        <p:spPr>
          <a:xfrm>
            <a:off x="987552" y="4782312"/>
            <a:ext cx="2971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Refuses the impossible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No model runs if the uploads cannot answer the question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4114800" y="4727448"/>
            <a:ext cx="36576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5" name="Oval 15374"/>
          <p:cNvSpPr/>
          <p:nvPr/>
        </p:nvSpPr>
        <p:spPr>
          <a:xfrm>
            <a:off x="4224528" y="4873752"/>
            <a:ext cx="420624" cy="420624"/>
          </a:xfrm>
          <a:prstGeom prst="ellipse">
            <a:avLst/>
          </a:prstGeom>
          <a:solidFill>
            <a:srgbClr val="0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6" name="Picture 15375" descr="FaLayerGro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065" y="4966289"/>
            <a:ext cx="235549" cy="235549"/>
          </a:xfrm>
          <a:prstGeom prst="rect">
            <a:avLst/>
          </a:prstGeom>
        </p:spPr>
      </p:pic>
      <p:sp>
        <p:nvSpPr>
          <p:cNvPr id="15377" name="TextBox 15376"/>
          <p:cNvSpPr txBox="1"/>
          <p:nvPr/>
        </p:nvSpPr>
        <p:spPr>
          <a:xfrm>
            <a:off x="4736592" y="4782312"/>
            <a:ext cx="2971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Sees under clouds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Radar + optical fusion measures what the camera misses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365760" y="5513832"/>
            <a:ext cx="36576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9" name="Oval 15378"/>
          <p:cNvSpPr/>
          <p:nvPr/>
        </p:nvSpPr>
        <p:spPr>
          <a:xfrm>
            <a:off x="475488" y="5660136"/>
            <a:ext cx="420624" cy="420624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0" name="Picture 15379" descr="FaBalance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025" y="5752673"/>
            <a:ext cx="235549" cy="235549"/>
          </a:xfrm>
          <a:prstGeom prst="rect">
            <a:avLst/>
          </a:prstGeom>
        </p:spPr>
      </p:pic>
      <p:sp>
        <p:nvSpPr>
          <p:cNvPr id="15381" name="TextBox 15380"/>
          <p:cNvSpPr txBox="1"/>
          <p:nvPr/>
        </p:nvSpPr>
        <p:spPr>
          <a:xfrm>
            <a:off x="987552" y="5568696"/>
            <a:ext cx="2971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Facts before words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Answer written only from measured evidence — never invented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4114800" y="5513832"/>
            <a:ext cx="36576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3" name="Oval 15382"/>
          <p:cNvSpPr/>
          <p:nvPr/>
        </p:nvSpPr>
        <p:spPr>
          <a:xfrm>
            <a:off x="4224528" y="5660136"/>
            <a:ext cx="420624" cy="420624"/>
          </a:xfrm>
          <a:prstGeom prst="ellipse">
            <a:avLst/>
          </a:prstGeom>
          <a:solidFill>
            <a:srgbClr val="D9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4" name="Picture 15383" descr="FaClipboardLi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065" y="5752673"/>
            <a:ext cx="235549" cy="235549"/>
          </a:xfrm>
          <a:prstGeom prst="rect">
            <a:avLst/>
          </a:prstGeom>
        </p:spPr>
      </p:pic>
      <p:sp>
        <p:nvSpPr>
          <p:cNvPr id="15385" name="TextBox 15384"/>
          <p:cNvSpPr txBox="1"/>
          <p:nvPr/>
        </p:nvSpPr>
        <p:spPr>
          <a:xfrm>
            <a:off x="4736592" y="5568696"/>
            <a:ext cx="2971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Auditable &amp; offline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Trace of exactly what ran; no internet needed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8001000" y="1481328"/>
            <a:ext cx="3794760" cy="256032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PROTOTYPE — WORKING TODAY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8001000" y="1783080"/>
            <a:ext cx="3794760" cy="4443984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8" name="Picture 15387" descr="crossmodal-cro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1874519"/>
            <a:ext cx="3611880" cy="2023898"/>
          </a:xfrm>
          <a:prstGeom prst="rect">
            <a:avLst/>
          </a:prstGeom>
        </p:spPr>
      </p:pic>
      <p:sp>
        <p:nvSpPr>
          <p:cNvPr id="15389" name="TextBox 15388"/>
          <p:cNvSpPr txBox="1"/>
          <p:nvPr/>
        </p:nvSpPr>
        <p:spPr>
          <a:xfrm>
            <a:off x="8092440" y="3977639"/>
            <a:ext cx="3611880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A1A1A"/>
                </a:solidFill>
                <a:latin typeface="Calibri"/>
              </a:rPr>
              <a:t>Query:</a:t>
            </a:r>
            <a:r>
              <a:rPr sz="1050" b="0">
                <a:solidFill>
                  <a:srgbClr val="1A1A1A"/>
                </a:solidFill>
                <a:latin typeface="Calibri"/>
              </a:rPr>
              <a:t> “Use the optical and SAR images together to identify built-up regions.”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SAR finds </a:t>
            </a:r>
            <a:r>
              <a:rPr sz="1050" b="1">
                <a:solidFill>
                  <a:srgbClr val="0B6FB8"/>
                </a:solidFill>
                <a:latin typeface="Calibri"/>
              </a:rPr>
              <a:t>2,815 ha</a:t>
            </a:r>
            <a:r>
              <a:rPr sz="1050" b="0">
                <a:solidFill>
                  <a:srgbClr val="1A1A1A"/>
                </a:solidFill>
                <a:latin typeface="Calibri"/>
              </a:rPr>
              <a:t> built-up; </a:t>
            </a:r>
            <a:r>
              <a:rPr sz="1050" b="1">
                <a:solidFill>
                  <a:srgbClr val="0B6FB8"/>
                </a:solidFill>
                <a:latin typeface="Calibri"/>
              </a:rPr>
              <a:t>1,607 ha</a:t>
            </a:r>
            <a:r>
              <a:rPr sz="1050" b="0">
                <a:solidFill>
                  <a:srgbClr val="1A1A1A"/>
                </a:solidFill>
                <a:latin typeface="Calibri"/>
              </a:rPr>
              <a:t> of it lies </a:t>
            </a:r>
            <a:r>
              <a:rPr sz="1050" b="1">
                <a:solidFill>
                  <a:srgbClr val="0B6FB8"/>
                </a:solidFill>
                <a:latin typeface="Calibri"/>
              </a:rPr>
              <a:t>under cloud</a:t>
            </a:r>
            <a:r>
              <a:rPr sz="1050" b="0">
                <a:solidFill>
                  <a:srgbClr val="1A1A1A"/>
                </a:solidFill>
                <a:latin typeface="Calibri"/>
              </a:rPr>
              <a:t>, invisible to the optical sensor.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Confidence </a:t>
            </a:r>
            <a:r>
              <a:rPr sz="1050" b="1">
                <a:solidFill>
                  <a:srgbClr val="0B6FB8"/>
                </a:solidFill>
                <a:latin typeface="Calibri"/>
              </a:rPr>
              <a:t>0.93</a:t>
            </a:r>
            <a:r>
              <a:rPr sz="1050" b="0">
                <a:solidFill>
                  <a:srgbClr val="1A1A1A"/>
                </a:solidFill>
                <a:latin typeface="Calibri"/>
              </a:rPr>
              <a:t> · every step in the trace.</a:t>
            </a:r>
          </a:p>
          <a:p>
            <a:pPr algn="l">
              <a:spcAft>
                <a:spcPts val="300"/>
              </a:spcAft>
            </a:pPr>
            <a:r>
              <a:rPr sz="1050" b="1" i="1">
                <a:solidFill>
                  <a:srgbClr val="D9661F"/>
                </a:solidFill>
                <a:latin typeface="Calibri"/>
              </a:rPr>
              <a:t>Synthetic demo scene — disclose on the slide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1A1A1A"/>
                </a:solidFill>
                <a:latin typeface="Calibri"/>
              </a:rPr>
              <a:t>Also live:</a:t>
            </a:r>
            <a:r>
              <a:rPr sz="1050" b="0">
                <a:solidFill>
                  <a:srgbClr val="1A1A1A"/>
                </a:solidFill>
                <a:latin typeface="Calibri"/>
              </a:rPr>
              <a:t> refusal with no model run · two-date change detection · GeoJSON + report export · real GeoTIFF upload.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0040" y="1097280"/>
            <a:ext cx="3200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6FB8"/>
                </a:solidFill>
                <a:latin typeface="Calibri"/>
              </a:rPr>
              <a:t>Technologies to be used</a:t>
            </a:r>
          </a:p>
        </p:txBody>
      </p:sp>
      <p:sp>
        <p:nvSpPr>
          <p:cNvPr id="17411" name="Oval 17410"/>
          <p:cNvSpPr/>
          <p:nvPr/>
        </p:nvSpPr>
        <p:spPr>
          <a:xfrm>
            <a:off x="320040" y="1463040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2" name="Picture 17411" descr="Fa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553" y="1551553"/>
            <a:ext cx="225308" cy="225308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804672" y="1435608"/>
            <a:ext cx="26974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Calibri"/>
              </a:rPr>
              <a:t>Backend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Python · NumPy · Pillow · FastAPI</a:t>
            </a:r>
          </a:p>
        </p:txBody>
      </p:sp>
      <p:sp>
        <p:nvSpPr>
          <p:cNvPr id="17414" name="Oval 17413"/>
          <p:cNvSpPr/>
          <p:nvPr/>
        </p:nvSpPr>
        <p:spPr>
          <a:xfrm>
            <a:off x="320040" y="2066544"/>
            <a:ext cx="402336" cy="402336"/>
          </a:xfrm>
          <a:prstGeom prst="ellipse">
            <a:avLst/>
          </a:prstGeom>
          <a:solidFill>
            <a:srgbClr val="0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5" name="Picture 17414" descr="Fa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553" y="2155057"/>
            <a:ext cx="225308" cy="225308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804672" y="2039112"/>
            <a:ext cx="26974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Calibri"/>
              </a:rPr>
              <a:t>Web app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React 19 · TypeScript · Vite · Tailwind</a:t>
            </a:r>
          </a:p>
        </p:txBody>
      </p:sp>
      <p:sp>
        <p:nvSpPr>
          <p:cNvPr id="17417" name="Oval 17416"/>
          <p:cNvSpPr/>
          <p:nvPr/>
        </p:nvSpPr>
        <p:spPr>
          <a:xfrm>
            <a:off x="320040" y="2670048"/>
            <a:ext cx="402336" cy="402336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8" name="Picture 17417" descr="FaCu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553" y="2758561"/>
            <a:ext cx="225308" cy="225308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804672" y="2642616"/>
            <a:ext cx="26974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Calibri"/>
              </a:rPr>
              <a:t>3D + maps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three.js sensor stack · GeoJSON (EPSG:4326)</a:t>
            </a:r>
          </a:p>
        </p:txBody>
      </p:sp>
      <p:sp>
        <p:nvSpPr>
          <p:cNvPr id="17420" name="Oval 17419"/>
          <p:cNvSpPr/>
          <p:nvPr/>
        </p:nvSpPr>
        <p:spPr>
          <a:xfrm>
            <a:off x="320040" y="3273552"/>
            <a:ext cx="402336" cy="402336"/>
          </a:xfrm>
          <a:prstGeom prst="ellipse">
            <a:avLst/>
          </a:prstGeom>
          <a:solidFill>
            <a:srgbClr val="D9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1" name="Picture 17420" descr="FaGlobeAs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553" y="3362065"/>
            <a:ext cx="225308" cy="225308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804672" y="3246120"/>
            <a:ext cx="26974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Calibri"/>
              </a:rPr>
              <a:t>Geospatial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GeoTIFF / TIFF · geotiff.js · CRS checks</a:t>
            </a:r>
          </a:p>
        </p:txBody>
      </p:sp>
      <p:sp>
        <p:nvSpPr>
          <p:cNvPr id="17423" name="Oval 17422"/>
          <p:cNvSpPr/>
          <p:nvPr/>
        </p:nvSpPr>
        <p:spPr>
          <a:xfrm>
            <a:off x="320040" y="3877056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4" name="Picture 17423" descr="FaCog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553" y="3965569"/>
            <a:ext cx="225308" cy="225308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804672" y="3849624"/>
            <a:ext cx="26974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Calibri"/>
              </a:rPr>
              <a:t>Image analysis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Lee filter · Otsu · NDVI/NDWI · change vector analysis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20040" y="4526280"/>
            <a:ext cx="3154680" cy="658368"/>
          </a:xfrm>
          <a:prstGeom prst="roundRect">
            <a:avLst>
              <a:gd name="adj" fmla="val 8000"/>
            </a:avLst>
          </a:prstGeom>
          <a:solidFill>
            <a:srgbClr val="FCEBDD"/>
          </a:solidFill>
          <a:ln w="12700">
            <a:solidFill>
              <a:srgbClr val="D966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1A1A1A"/>
                </a:solidFill>
                <a:latin typeface="Calibri"/>
              </a:rPr>
              <a:t>AI model &amp; training</a:t>
            </a:r>
          </a:p>
          <a:p>
            <a:pPr algn="ctr"/>
            <a:r>
              <a:rPr sz="1050" b="1" i="1">
                <a:solidFill>
                  <a:srgbClr val="D9661F"/>
                </a:solidFill>
                <a:latin typeface="Calibri"/>
              </a:rPr>
              <a:t>Fill from the model document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320040" y="5285232"/>
            <a:ext cx="315468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Prototype:</a:t>
            </a:r>
            <a:r>
              <a:rPr sz="1100" b="0">
                <a:solidFill>
                  <a:srgbClr val="1A1A1A"/>
                </a:solidFill>
                <a:latin typeface="Calibri"/>
              </a:rPr>
              <a:t> </a:t>
            </a:r>
            <a:r>
              <a:rPr sz="1100" b="1" i="1">
                <a:solidFill>
                  <a:srgbClr val="D9661F"/>
                </a:solidFill>
                <a:latin typeface="Calibri"/>
              </a:rPr>
              <a:t>link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Demo video:</a:t>
            </a:r>
            <a:r>
              <a:rPr sz="1100" b="0">
                <a:solidFill>
                  <a:srgbClr val="1A1A1A"/>
                </a:solidFill>
                <a:latin typeface="Calibri"/>
              </a:rPr>
              <a:t> </a:t>
            </a:r>
            <a:r>
              <a:rPr sz="1100" b="1" i="1">
                <a:solidFill>
                  <a:srgbClr val="D9661F"/>
                </a:solidFill>
                <a:latin typeface="Calibri"/>
              </a:rPr>
              <a:t>YouTube link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Code:</a:t>
            </a:r>
            <a:r>
              <a:rPr sz="1100" b="0">
                <a:solidFill>
                  <a:srgbClr val="1A1A1A"/>
                </a:solidFill>
                <a:latin typeface="Calibri"/>
              </a:rPr>
              <a:t> </a:t>
            </a:r>
            <a:r>
              <a:rPr sz="1100" b="1" i="1">
                <a:solidFill>
                  <a:srgbClr val="D9661F"/>
                </a:solidFill>
                <a:latin typeface="Calibri"/>
              </a:rPr>
              <a:t>GitHub link</a:t>
            </a:r>
          </a:p>
        </p:txBody>
      </p:sp>
      <p:cxnSp>
        <p:nvCxnSpPr>
          <p:cNvPr id="17428" name="Connector 17427"/>
          <p:cNvCxnSpPr/>
          <p:nvPr/>
        </p:nvCxnSpPr>
        <p:spPr>
          <a:xfrm>
            <a:off x="3611880" y="1143000"/>
            <a:ext cx="0" cy="5074920"/>
          </a:xfrm>
          <a:prstGeom prst="line">
            <a:avLst/>
          </a:prstGeom>
          <a:ln w="12700">
            <a:solidFill>
              <a:srgbClr val="C9D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9" name="TextBox 17428"/>
          <p:cNvSpPr txBox="1"/>
          <p:nvPr/>
        </p:nvSpPr>
        <p:spPr>
          <a:xfrm>
            <a:off x="3749039" y="1097280"/>
            <a:ext cx="8046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6FB8"/>
                </a:solidFill>
                <a:latin typeface="Calibri"/>
              </a:rPr>
              <a:t>Methodology and process for implementation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3749039" y="1481328"/>
            <a:ext cx="2331720" cy="74980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1A1A1A"/>
                </a:solidFill>
                <a:latin typeface="Calibri"/>
              </a:rPr>
              <a:t>INPUT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GeoTIFF + a question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single · optical+SAR · two dates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6080760" y="1856231"/>
            <a:ext cx="32004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Rounded Rectangle 17431"/>
          <p:cNvSpPr/>
          <p:nvPr/>
        </p:nvSpPr>
        <p:spPr>
          <a:xfrm>
            <a:off x="6400800" y="1481328"/>
            <a:ext cx="2331720" cy="749808"/>
          </a:xfrm>
          <a:prstGeom prst="roundRect">
            <a:avLst>
              <a:gd name="adj" fmla="val 8000"/>
            </a:avLst>
          </a:prstGeom>
          <a:solidFill>
            <a:srgbClr val="E3EEF9"/>
          </a:solidFill>
          <a:ln w="12700">
            <a:solidFill>
              <a:srgbClr val="0B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1A1A1A"/>
                </a:solidFill>
                <a:latin typeface="Calibri"/>
              </a:rPr>
              <a:t>1 · Validate inputs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Calibri"/>
              </a:rPr>
              <a:t>count · sensor · CRS · alignment</a:t>
            </a:r>
          </a:p>
        </p:txBody>
      </p:sp>
      <p:cxnSp>
        <p:nvCxnSpPr>
          <p:cNvPr id="17433" name="Connector 17432"/>
          <p:cNvCxnSpPr/>
          <p:nvPr/>
        </p:nvCxnSpPr>
        <p:spPr>
          <a:xfrm>
            <a:off x="8732520" y="1856231"/>
            <a:ext cx="32004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4" name="Rounded Rectangle 17433"/>
          <p:cNvSpPr/>
          <p:nvPr/>
        </p:nvSpPr>
        <p:spPr>
          <a:xfrm>
            <a:off x="9052560" y="1481328"/>
            <a:ext cx="2697480" cy="749808"/>
          </a:xfrm>
          <a:prstGeom prst="roundRect">
            <a:avLst>
              <a:gd name="adj" fmla="val 8000"/>
            </a:avLst>
          </a:prstGeom>
          <a:solidFill>
            <a:srgbClr val="E3EEF9"/>
          </a:solidFill>
          <a:ln w="12700">
            <a:solidFill>
              <a:srgbClr val="0B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1A1A1A"/>
                </a:solidFill>
                <a:latin typeface="Calibri"/>
              </a:rPr>
              <a:t>2 · Classify the task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Calibri"/>
              </a:rPr>
              <a:t>VQA · grounding · change · cross-modal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10401300" y="2231136"/>
            <a:ext cx="0" cy="256032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Diamond 17435"/>
          <p:cNvSpPr/>
          <p:nvPr/>
        </p:nvSpPr>
        <p:spPr>
          <a:xfrm>
            <a:off x="9509760" y="2487168"/>
            <a:ext cx="1783080" cy="822960"/>
          </a:xfrm>
          <a:prstGeom prst="diamond">
            <a:avLst/>
          </a:prstGeom>
          <a:solidFill>
            <a:srgbClr val="E3EEF9"/>
          </a:solidFill>
          <a:ln w="12700">
            <a:solidFill>
              <a:srgbClr val="0B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1A1A1A"/>
                </a:solidFill>
                <a:latin typeface="Calibri"/>
              </a:rPr>
              <a:t>3 · Inputs can answer it?</a:t>
            </a:r>
          </a:p>
        </p:txBody>
      </p:sp>
      <p:cxnSp>
        <p:nvCxnSpPr>
          <p:cNvPr id="17437" name="Connector 17436"/>
          <p:cNvCxnSpPr/>
          <p:nvPr/>
        </p:nvCxnSpPr>
        <p:spPr>
          <a:xfrm flipH="1">
            <a:off x="9006840" y="2898648"/>
            <a:ext cx="502920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TextBox 17437"/>
          <p:cNvSpPr txBox="1"/>
          <p:nvPr/>
        </p:nvSpPr>
        <p:spPr>
          <a:xfrm>
            <a:off x="9098280" y="260604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Calibri"/>
              </a:rPr>
              <a:t>✗ no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035040" y="2560320"/>
            <a:ext cx="2971800" cy="676656"/>
          </a:xfrm>
          <a:prstGeom prst="roundRect">
            <a:avLst>
              <a:gd name="adj" fmla="val 8000"/>
            </a:avLst>
          </a:prstGeom>
          <a:solidFill>
            <a:srgbClr val="F9E0DE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1A1A1A"/>
                </a:solidFill>
                <a:latin typeface="Calibri"/>
              </a:rPr>
              <a:t>REFUSE</a:t>
            </a:r>
            <a:r>
              <a:rPr sz="1050" b="0">
                <a:solidFill>
                  <a:srgbClr val="1A1A1A"/>
                </a:solidFill>
                <a:latin typeface="Calibri"/>
              </a:rPr>
              <a:t> — say why + what to upload</a:t>
            </a:r>
          </a:p>
          <a:p>
            <a:pPr algn="ctr"/>
            <a:r>
              <a:rPr sz="1050" b="1">
                <a:solidFill>
                  <a:srgbClr val="C0392B"/>
                </a:solidFill>
                <a:latin typeface="Calibri"/>
              </a:rPr>
              <a:t>no model is run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10401300" y="3310128"/>
            <a:ext cx="0" cy="256032"/>
          </a:xfrm>
          <a:prstGeom prst="line">
            <a:avLst/>
          </a:prstGeom>
          <a:ln w="19050">
            <a:solidFill>
              <a:srgbClr val="2E7D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TextBox 17440"/>
          <p:cNvSpPr txBox="1"/>
          <p:nvPr/>
        </p:nvSpPr>
        <p:spPr>
          <a:xfrm>
            <a:off x="10469880" y="329184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E7D4F"/>
                </a:solidFill>
                <a:latin typeface="Calibri"/>
              </a:rPr>
              <a:t>✓ yes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3749039" y="3566160"/>
            <a:ext cx="8001000" cy="27432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 · Select from a fixed tool registry</a:t>
            </a:r>
            <a:r>
              <a:rPr sz="1050" b="0">
                <a:solidFill>
                  <a:srgbClr val="FFFFFF"/>
                </a:solidFill>
                <a:latin typeface="Calibri"/>
              </a:rPr>
              <a:t> — threshold is the only permitted parameter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3749039" y="3913632"/>
            <a:ext cx="1920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Oval 17443"/>
          <p:cNvSpPr/>
          <p:nvPr/>
        </p:nvSpPr>
        <p:spPr>
          <a:xfrm>
            <a:off x="3822191" y="4032504"/>
            <a:ext cx="402336" cy="402336"/>
          </a:xfrm>
          <a:prstGeom prst="ellipse">
            <a:avLst/>
          </a:prstGeom>
          <a:solidFill>
            <a:srgbClr val="0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5" name="Picture 17444" descr="FaComment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0705" y="4121017"/>
            <a:ext cx="225308" cy="225308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4279392" y="3931920"/>
            <a:ext cx="135331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Calibri"/>
              </a:rPr>
              <a:t>rs_vqa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questions about one image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5788152" y="3913632"/>
            <a:ext cx="1920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8" name="Oval 17447"/>
          <p:cNvSpPr/>
          <p:nvPr/>
        </p:nvSpPr>
        <p:spPr>
          <a:xfrm>
            <a:off x="5861304" y="4032504"/>
            <a:ext cx="402336" cy="402336"/>
          </a:xfrm>
          <a:prstGeom prst="ellipse">
            <a:avLst/>
          </a:prstGeom>
          <a:solidFill>
            <a:srgbClr val="0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9" name="Picture 17448" descr="FaSearchLocat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9817" y="4121017"/>
            <a:ext cx="225308" cy="225308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6318504" y="3931920"/>
            <a:ext cx="135331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Calibri"/>
              </a:rPr>
              <a:t>grounding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“highlight the water body”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7827263" y="3913632"/>
            <a:ext cx="1920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2" name="Oval 17451"/>
          <p:cNvSpPr/>
          <p:nvPr/>
        </p:nvSpPr>
        <p:spPr>
          <a:xfrm>
            <a:off x="7900415" y="4032504"/>
            <a:ext cx="402336" cy="402336"/>
          </a:xfrm>
          <a:prstGeom prst="ellipse">
            <a:avLst/>
          </a:prstGeom>
          <a:solidFill>
            <a:srgbClr val="0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3" name="Picture 17452" descr="FaExchangeAl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88929" y="4121017"/>
            <a:ext cx="225308" cy="225308"/>
          </a:xfrm>
          <a:prstGeom prst="rect">
            <a:avLst/>
          </a:prstGeom>
        </p:spPr>
      </p:pic>
      <p:sp>
        <p:nvSpPr>
          <p:cNvPr id="17454" name="TextBox 17453"/>
          <p:cNvSpPr txBox="1"/>
          <p:nvPr/>
        </p:nvSpPr>
        <p:spPr>
          <a:xfrm>
            <a:off x="8357615" y="3931920"/>
            <a:ext cx="135331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Calibri"/>
              </a:rPr>
              <a:t>change_vqa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what changed, and where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9866376" y="3913632"/>
            <a:ext cx="1920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6" name="Oval 17455"/>
          <p:cNvSpPr/>
          <p:nvPr/>
        </p:nvSpPr>
        <p:spPr>
          <a:xfrm>
            <a:off x="9939528" y="4032504"/>
            <a:ext cx="402336" cy="402336"/>
          </a:xfrm>
          <a:prstGeom prst="ellipse">
            <a:avLst/>
          </a:prstGeom>
          <a:solidFill>
            <a:srgbClr val="0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7" name="Picture 17456" descr="FaLayerGrou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28041" y="4121017"/>
            <a:ext cx="225308" cy="225308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10396728" y="3931920"/>
            <a:ext cx="135331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Calibri"/>
              </a:rPr>
              <a:t>optical_sar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radar + optical fusion</a:t>
            </a:r>
          </a:p>
        </p:txBody>
      </p:sp>
      <p:cxnSp>
        <p:nvCxnSpPr>
          <p:cNvPr id="17459" name="Connector 17458"/>
          <p:cNvCxnSpPr/>
          <p:nvPr/>
        </p:nvCxnSpPr>
        <p:spPr>
          <a:xfrm>
            <a:off x="4754880" y="4572000"/>
            <a:ext cx="0" cy="347472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0" name="Rounded Rectangle 17459"/>
          <p:cNvSpPr/>
          <p:nvPr/>
        </p:nvSpPr>
        <p:spPr>
          <a:xfrm>
            <a:off x="3749039" y="4919472"/>
            <a:ext cx="2194560" cy="713232"/>
          </a:xfrm>
          <a:prstGeom prst="roundRect">
            <a:avLst>
              <a:gd name="adj" fmla="val 8000"/>
            </a:avLst>
          </a:prstGeom>
          <a:solidFill>
            <a:srgbClr val="E3EEF9"/>
          </a:solidFill>
          <a:ln w="12700">
            <a:solidFill>
              <a:srgbClr val="0B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1A1A1A"/>
                </a:solidFill>
                <a:latin typeface="Calibri"/>
              </a:rPr>
              <a:t>5 · Fuse evidence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conflicts recorded,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confidence lowered</a:t>
            </a:r>
          </a:p>
        </p:txBody>
      </p:sp>
      <p:cxnSp>
        <p:nvCxnSpPr>
          <p:cNvPr id="17461" name="Connector 17460"/>
          <p:cNvCxnSpPr/>
          <p:nvPr/>
        </p:nvCxnSpPr>
        <p:spPr>
          <a:xfrm>
            <a:off x="5943600" y="5276088"/>
            <a:ext cx="32004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2" name="Diamond 17461"/>
          <p:cNvSpPr/>
          <p:nvPr/>
        </p:nvSpPr>
        <p:spPr>
          <a:xfrm>
            <a:off x="6263640" y="4846320"/>
            <a:ext cx="1783080" cy="859536"/>
          </a:xfrm>
          <a:prstGeom prst="diamond">
            <a:avLst/>
          </a:prstGeom>
          <a:solidFill>
            <a:srgbClr val="E3EEF9"/>
          </a:solidFill>
          <a:ln w="12700">
            <a:solidFill>
              <a:srgbClr val="0B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1A1A1A"/>
                </a:solidFill>
                <a:latin typeface="Calibri"/>
              </a:rPr>
              <a:t>6 · Confident enough?</a:t>
            </a:r>
          </a:p>
        </p:txBody>
      </p:sp>
      <p:cxnSp>
        <p:nvCxnSpPr>
          <p:cNvPr id="17463" name="Connector 17462"/>
          <p:cNvCxnSpPr/>
          <p:nvPr/>
        </p:nvCxnSpPr>
        <p:spPr>
          <a:xfrm>
            <a:off x="8046720" y="5276088"/>
            <a:ext cx="411480" cy="0"/>
          </a:xfrm>
          <a:prstGeom prst="line">
            <a:avLst/>
          </a:prstGeom>
          <a:ln w="19050">
            <a:solidFill>
              <a:srgbClr val="2E7D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4" name="TextBox 17463"/>
          <p:cNvSpPr txBox="1"/>
          <p:nvPr/>
        </p:nvSpPr>
        <p:spPr>
          <a:xfrm>
            <a:off x="8165592" y="498348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E7D4F"/>
                </a:solidFill>
                <a:latin typeface="Calibri"/>
              </a:rPr>
              <a:t>✓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8458200" y="4846320"/>
            <a:ext cx="3291840" cy="859536"/>
          </a:xfrm>
          <a:prstGeom prst="roundRect">
            <a:avLst>
              <a:gd name="adj" fmla="val 8000"/>
            </a:avLst>
          </a:prstGeom>
          <a:solidFill>
            <a:srgbClr val="E2F1E7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1A1A1A"/>
                </a:solidFill>
                <a:latin typeface="Calibri"/>
              </a:rPr>
              <a:t>OUTPUT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Calibri"/>
              </a:rPr>
              <a:t>answer · map (lat/long) · confidence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Calibri"/>
              </a:rPr>
              <a:t>execution trace · report</a:t>
            </a:r>
          </a:p>
        </p:txBody>
      </p:sp>
      <p:cxnSp>
        <p:nvCxnSpPr>
          <p:cNvPr id="17466" name="Connector 17465"/>
          <p:cNvCxnSpPr/>
          <p:nvPr/>
        </p:nvCxnSpPr>
        <p:spPr>
          <a:xfrm>
            <a:off x="7155180" y="5705856"/>
            <a:ext cx="0" cy="237744"/>
          </a:xfrm>
          <a:prstGeom prst="line">
            <a:avLst/>
          </a:prstGeom>
          <a:ln w="19050">
            <a:solidFill>
              <a:srgbClr val="D966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7" name="Rounded Rectangle 17466"/>
          <p:cNvSpPr/>
          <p:nvPr/>
        </p:nvSpPr>
        <p:spPr>
          <a:xfrm>
            <a:off x="5669280" y="5943600"/>
            <a:ext cx="2971800" cy="310896"/>
          </a:xfrm>
          <a:prstGeom prst="roundRect">
            <a:avLst>
              <a:gd name="adj" fmla="val 8000"/>
            </a:avLst>
          </a:prstGeom>
          <a:solidFill>
            <a:srgbClr val="FCEBDD"/>
          </a:solidFill>
          <a:ln w="12700">
            <a:solidFill>
              <a:srgbClr val="D96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0">
                <a:solidFill>
                  <a:srgbClr val="1A1A1A"/>
                </a:solidFill>
                <a:latin typeface="Calibri"/>
              </a:rPr>
              <a:t>✗ </a:t>
            </a:r>
            <a:r>
              <a:rPr sz="950" b="1">
                <a:solidFill>
                  <a:srgbClr val="1A1A1A"/>
                </a:solidFill>
                <a:latin typeface="Calibri"/>
              </a:rPr>
              <a:t>ABSTAIN</a:t>
            </a:r>
            <a:r>
              <a:rPr sz="950" b="0">
                <a:solidFill>
                  <a:srgbClr val="1A1A1A"/>
                </a:solidFill>
                <a:latin typeface="Calibri"/>
              </a:rPr>
              <a:t> — “not confident enough to answer”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10" name="Table 17409"/>
          <p:cNvGraphicFramePr>
            <a:graphicFrameLocks noGrp="1"/>
          </p:cNvGraphicFramePr>
          <p:nvPr/>
        </p:nvGraphicFramePr>
        <p:xfrm>
          <a:off x="365760" y="1188720"/>
          <a:ext cx="11430000" cy="26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4640"/>
                <a:gridCol w="3291840"/>
                <a:gridCol w="53035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Analysis of the feasibility of the idea</a:t>
                      </a:r>
                    </a:p>
                  </a:txBody>
                  <a:tcPr marL="64008" marR="64008" marT="27432" marB="27432" anchor="ctr">
                    <a:solidFill>
                      <a:srgbClr val="0B6F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Potential challenges and risks</a:t>
                      </a:r>
                    </a:p>
                  </a:txBody>
                  <a:tcPr marL="64008" marR="64008" marT="27432" marB="27432" anchor="ctr"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Strategies for overcoming these challenges</a:t>
                      </a:r>
                    </a:p>
                  </a:txBody>
                  <a:tcPr marL="64008" marR="64008" marT="27432" marB="27432" anchor="ctr">
                    <a:solidFill>
                      <a:srgbClr val="2E7D4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Technical — built &amp; running</a:t>
                      </a:r>
                    </a:p>
                  </a:txBody>
                  <a:tcPr marL="64008" marR="64008" marT="27432" marB="27432" anchor="ctr">
                    <a:solidFill>
                      <a:srgbClr val="E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AI model not yet connected to every specialist</a:t>
                      </a:r>
                    </a:p>
                  </a:txBody>
                  <a:tcPr marL="64008" marR="64008" marT="27432" marB="27432" anchor="ctr">
                    <a:solidFill>
                      <a:srgbClr val="F9E0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Model “socket” built and tested; </a:t>
                      </a:r>
                      <a:r>
                        <a:rPr sz="1100" b="1">
                          <a:solidFill>
                            <a:srgbClr val="0B6FB8"/>
                          </a:solidFill>
                          <a:latin typeface="Calibri"/>
                        </a:rPr>
                        <a:t>classical path answers today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 and the trace labels which engine ran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Data — robust</a:t>
                      </a:r>
                    </a:p>
                  </a:txBody>
                  <a:tcPr marL="64008" marR="64008" marT="27432" marB="27432" anchor="ctr">
                    <a:solidFill>
                      <a:srgbClr val="E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ISRO/SAC test set is hidden; Cartosat/RISAT data is not public</a:t>
                      </a:r>
                    </a:p>
                  </a:txBody>
                  <a:tcPr marL="64008" marR="64008" marT="27432" marB="27432" anchor="ctr">
                    <a:solidFill>
                      <a:srgbClr val="F9E0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6FB8"/>
                          </a:solidFill>
                          <a:latin typeface="Calibri"/>
                        </a:rPr>
                        <a:t>Input validation, calibrated confidence and abstention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 — built for data we have never seen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Trust — verifiable</a:t>
                      </a:r>
                    </a:p>
                  </a:txBody>
                  <a:tcPr marL="64008" marR="64008" marT="27432" marB="27432" anchor="ctr">
                    <a:solidFill>
                      <a:srgbClr val="E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AI answers that sound right but are wrong</a:t>
                      </a:r>
                    </a:p>
                  </a:txBody>
                  <a:tcPr marL="64008" marR="64008" marT="27432" marB="27432" anchor="ctr">
                    <a:solidFill>
                      <a:srgbClr val="F9E0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6FB8"/>
                          </a:solidFill>
                          <a:latin typeface="Calibri"/>
                        </a:rPr>
                        <a:t>Refuse before any model runs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; answer phrased only from measured evidence; full trace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Operational — demo-safe</a:t>
                      </a:r>
                    </a:p>
                  </a:txBody>
                  <a:tcPr marL="64008" marR="64008" marT="27432" marB="27432" anchor="ctr">
                    <a:solidFill>
                      <a:srgbClr val="E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Venue Wi-Fi, limited GPU</a:t>
                      </a:r>
                    </a:p>
                  </a:txBody>
                  <a:tcPr marL="64008" marR="64008" marT="27432" marB="27432" anchor="ctr">
                    <a:solidFill>
                      <a:srgbClr val="F9E0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6FB8"/>
                          </a:solidFill>
                          <a:latin typeface="Calibri"/>
                        </a:rPr>
                        <a:t>Fully offline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; only the model runtime needs a GPU; pre-computed demo results clearly labelled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1" name="Rounded Rectangle 17410"/>
          <p:cNvSpPr/>
          <p:nvPr/>
        </p:nvSpPr>
        <p:spPr>
          <a:xfrm>
            <a:off x="365760" y="4023360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MEASURED TODAY — on synthetic test scenes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4389120"/>
            <a:ext cx="1783080" cy="822960"/>
          </a:xfrm>
          <a:prstGeom prst="roundRect">
            <a:avLst>
              <a:gd name="adj" fmla="val 8000"/>
            </a:avLst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365760" y="442569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0B6FB8"/>
                </a:solidFill>
                <a:latin typeface="Calibri"/>
              </a:rPr>
              <a:t>1.00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65760" y="4873752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Water grounding IoU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240279" y="4389120"/>
            <a:ext cx="1783080" cy="822960"/>
          </a:xfrm>
          <a:prstGeom prst="roundRect">
            <a:avLst>
              <a:gd name="adj" fmla="val 8000"/>
            </a:avLst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2240279" y="442569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0B6FB8"/>
                </a:solidFill>
                <a:latin typeface="Calibri"/>
              </a:rPr>
              <a:t>0.996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240279" y="4873752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Vegetation IoU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114800" y="4389120"/>
            <a:ext cx="1783080" cy="822960"/>
          </a:xfrm>
          <a:prstGeom prst="roundRect">
            <a:avLst>
              <a:gd name="adj" fmla="val 8000"/>
            </a:avLst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4114800" y="442569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0B6FB8"/>
                </a:solidFill>
                <a:latin typeface="Calibri"/>
              </a:rPr>
              <a:t>0.945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114800" y="4873752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SAR built-up F1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365760" y="5303520"/>
            <a:ext cx="1783080" cy="822960"/>
          </a:xfrm>
          <a:prstGeom prst="roundRect">
            <a:avLst>
              <a:gd name="adj" fmla="val 8000"/>
            </a:avLst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365760" y="534009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0B6FB8"/>
                </a:solidFill>
                <a:latin typeface="Calibri"/>
              </a:rPr>
              <a:t>0.770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65760" y="5788152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Change detection F1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2240279" y="5303520"/>
            <a:ext cx="1783080" cy="822960"/>
          </a:xfrm>
          <a:prstGeom prst="roundRect">
            <a:avLst>
              <a:gd name="adj" fmla="val 8000"/>
            </a:avLst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2240279" y="534009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0B6FB8"/>
                </a:solidFill>
                <a:latin typeface="Calibri"/>
              </a:rPr>
              <a:t>0.033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2240279" y="5788152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Calibration error (ECE)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114800" y="5303520"/>
            <a:ext cx="1783080" cy="822960"/>
          </a:xfrm>
          <a:prstGeom prst="roundRect">
            <a:avLst>
              <a:gd name="adj" fmla="val 8000"/>
            </a:avLst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TextBox 17427"/>
          <p:cNvSpPr txBox="1"/>
          <p:nvPr/>
        </p:nvSpPr>
        <p:spPr>
          <a:xfrm>
            <a:off x="4114800" y="534009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0B6FB8"/>
                </a:solidFill>
                <a:latin typeface="Calibri"/>
              </a:rPr>
              <a:t>~90 ms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114800" y="5788152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Cross-modal query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172200" y="4023360"/>
            <a:ext cx="1463040" cy="256032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VIABILITY</a:t>
            </a:r>
          </a:p>
        </p:txBody>
      </p:sp>
      <p:sp>
        <p:nvSpPr>
          <p:cNvPr id="17431" name="Oval 17430"/>
          <p:cNvSpPr/>
          <p:nvPr/>
        </p:nvSpPr>
        <p:spPr>
          <a:xfrm>
            <a:off x="6172200" y="4407408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2" name="Picture 17431" descr="Fa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713" y="4495921"/>
            <a:ext cx="225308" cy="225308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6675120" y="4389120"/>
            <a:ext cx="512064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Technically viable</a:t>
            </a:r>
            <a:r>
              <a:rPr sz="1150" b="0">
                <a:solidFill>
                  <a:srgbClr val="1A1A1A"/>
                </a:solidFill>
                <a:latin typeface="Calibri"/>
              </a:rPr>
              <a:t> — open-source stack; every capability measured, not assumed</a:t>
            </a:r>
          </a:p>
        </p:txBody>
      </p:sp>
      <p:sp>
        <p:nvSpPr>
          <p:cNvPr id="17434" name="Oval 17433"/>
          <p:cNvSpPr/>
          <p:nvPr/>
        </p:nvSpPr>
        <p:spPr>
          <a:xfrm>
            <a:off x="6172200" y="5010912"/>
            <a:ext cx="402336" cy="402336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5" name="Picture 17434" descr="FaRupeeSig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0713" y="5099425"/>
            <a:ext cx="225308" cy="225308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6675120" y="4992624"/>
            <a:ext cx="512064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Economically feasible</a:t>
            </a:r>
            <a:r>
              <a:rPr sz="1150" b="0">
                <a:solidFill>
                  <a:srgbClr val="1A1A1A"/>
                </a:solidFill>
                <a:latin typeface="Calibri"/>
              </a:rPr>
              <a:t> — free open datasets and tools; runs on a laptop</a:t>
            </a:r>
          </a:p>
        </p:txBody>
      </p:sp>
      <p:sp>
        <p:nvSpPr>
          <p:cNvPr id="17437" name="Oval 17436"/>
          <p:cNvSpPr/>
          <p:nvPr/>
        </p:nvSpPr>
        <p:spPr>
          <a:xfrm>
            <a:off x="6172200" y="5614416"/>
            <a:ext cx="402336" cy="402336"/>
          </a:xfrm>
          <a:prstGeom prst="ellipse">
            <a:avLst/>
          </a:prstGeom>
          <a:solidFill>
            <a:srgbClr val="D9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8" name="Picture 17437" descr="Fa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0713" y="5702929"/>
            <a:ext cx="225308" cy="225308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6675120" y="5596128"/>
            <a:ext cx="512064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Operationally practical</a:t>
            </a:r>
            <a:r>
              <a:rPr sz="1150" b="0">
                <a:solidFill>
                  <a:srgbClr val="1A1A1A"/>
                </a:solidFill>
                <a:latin typeface="Calibri"/>
              </a:rPr>
              <a:t> — browser app, drag-and-drop GeoTIFF, downloadable report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5623560" cy="2926080"/>
          </a:xfrm>
          <a:prstGeom prst="roundRect">
            <a:avLst>
              <a:gd name="adj" fmla="val 8000"/>
            </a:avLst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ounded Rectangle 17410"/>
          <p:cNvSpPr/>
          <p:nvPr/>
        </p:nvSpPr>
        <p:spPr>
          <a:xfrm>
            <a:off x="502920" y="1280160"/>
            <a:ext cx="3749039" cy="256032"/>
          </a:xfrm>
          <a:prstGeom prst="roundRect">
            <a:avLst>
              <a:gd name="adj" fmla="val 8000"/>
            </a:avLst>
          </a:prstGeom>
          <a:solidFill>
            <a:srgbClr val="0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Potential impact on the target audience</a:t>
            </a:r>
          </a:p>
        </p:txBody>
      </p:sp>
      <p:sp>
        <p:nvSpPr>
          <p:cNvPr id="17412" name="Oval 17411"/>
          <p:cNvSpPr/>
          <p:nvPr/>
        </p:nvSpPr>
        <p:spPr>
          <a:xfrm>
            <a:off x="502920" y="1645920"/>
            <a:ext cx="365760" cy="365760"/>
          </a:xfrm>
          <a:prstGeom prst="ellipse">
            <a:avLst/>
          </a:prstGeom>
          <a:solidFill>
            <a:srgbClr val="0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3" name="Picture 17412" descr="FaUserT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" y="1726387"/>
            <a:ext cx="204825" cy="204825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960120" y="1618488"/>
            <a:ext cx="493776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District &amp; disaster officers</a:t>
            </a:r>
            <a:r>
              <a:rPr sz="1100" b="0">
                <a:solidFill>
                  <a:srgbClr val="1A1A1A"/>
                </a:solidFill>
                <a:latin typeface="Calibri"/>
              </a:rPr>
              <a:t> — flood, damage and construction questions without a GIS expert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502920" y="2130552"/>
            <a:ext cx="365760" cy="365760"/>
          </a:xfrm>
          <a:prstGeom prst="ellipse">
            <a:avLst/>
          </a:prstGeom>
          <a:solidFill>
            <a:srgbClr val="0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6" name="Picture 17415" descr="FaTrac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7" y="2211019"/>
            <a:ext cx="204825" cy="204825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960120" y="2103120"/>
            <a:ext cx="493776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Agriculture &amp; water departments</a:t>
            </a:r>
            <a:r>
              <a:rPr sz="1100" b="0">
                <a:solidFill>
                  <a:srgbClr val="1A1A1A"/>
                </a:solidFill>
                <a:latin typeface="Calibri"/>
              </a:rPr>
              <a:t> — vegetation and water-body extent from imagery</a:t>
            </a:r>
          </a:p>
        </p:txBody>
      </p:sp>
      <p:sp>
        <p:nvSpPr>
          <p:cNvPr id="17418" name="Oval 17417"/>
          <p:cNvSpPr/>
          <p:nvPr/>
        </p:nvSpPr>
        <p:spPr>
          <a:xfrm>
            <a:off x="502920" y="2615184"/>
            <a:ext cx="365760" cy="365760"/>
          </a:xfrm>
          <a:prstGeom prst="ellipse">
            <a:avLst/>
          </a:prstGeom>
          <a:solidFill>
            <a:srgbClr val="0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9" name="Picture 17418" descr="FaC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387" y="2695651"/>
            <a:ext cx="204825" cy="204825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960120" y="2587752"/>
            <a:ext cx="493776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Urban planners</a:t>
            </a:r>
            <a:r>
              <a:rPr sz="1100" b="0">
                <a:solidFill>
                  <a:srgbClr val="1A1A1A"/>
                </a:solidFill>
                <a:latin typeface="Calibri"/>
              </a:rPr>
              <a:t> — built-up growth between two dates, mapped</a:t>
            </a:r>
          </a:p>
        </p:txBody>
      </p:sp>
      <p:sp>
        <p:nvSpPr>
          <p:cNvPr id="17421" name="Oval 17420"/>
          <p:cNvSpPr/>
          <p:nvPr/>
        </p:nvSpPr>
        <p:spPr>
          <a:xfrm>
            <a:off x="502920" y="3099816"/>
            <a:ext cx="365760" cy="365760"/>
          </a:xfrm>
          <a:prstGeom prst="ellipse">
            <a:avLst/>
          </a:prstGeom>
          <a:solidFill>
            <a:srgbClr val="0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2" name="Picture 17421" descr="FaSatell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387" y="3180283"/>
            <a:ext cx="204825" cy="204825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960120" y="3072384"/>
            <a:ext cx="493776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ISRO / SAC analysts</a:t>
            </a:r>
            <a:r>
              <a:rPr sz="1100" b="0">
                <a:solidFill>
                  <a:srgbClr val="1A1A1A"/>
                </a:solidFill>
                <a:latin typeface="Calibri"/>
              </a:rPr>
              <a:t> — routine questions faster, with an auditable trace</a:t>
            </a:r>
          </a:p>
        </p:txBody>
      </p:sp>
      <p:sp>
        <p:nvSpPr>
          <p:cNvPr id="17424" name="Oval 17423"/>
          <p:cNvSpPr/>
          <p:nvPr/>
        </p:nvSpPr>
        <p:spPr>
          <a:xfrm>
            <a:off x="502920" y="3584448"/>
            <a:ext cx="365760" cy="365760"/>
          </a:xfrm>
          <a:prstGeom prst="ellipse">
            <a:avLst/>
          </a:prstGeom>
          <a:solidFill>
            <a:srgbClr val="0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5" name="Picture 17424" descr="FaGraduationC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387" y="3664915"/>
            <a:ext cx="204825" cy="204825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960120" y="3557016"/>
            <a:ext cx="493776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Students &amp; researchers</a:t>
            </a:r>
            <a:r>
              <a:rPr sz="1100" b="0">
                <a:solidFill>
                  <a:srgbClr val="1A1A1A"/>
                </a:solidFill>
                <a:latin typeface="Calibri"/>
              </a:rPr>
              <a:t> — remote sensing without specialist software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172200" y="1188720"/>
            <a:ext cx="5623560" cy="2926080"/>
          </a:xfrm>
          <a:prstGeom prst="roundRect">
            <a:avLst>
              <a:gd name="adj" fmla="val 8000"/>
            </a:avLst>
          </a:prstGeom>
          <a:solidFill>
            <a:srgbClr val="E2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Rounded Rectangle 17427"/>
          <p:cNvSpPr/>
          <p:nvPr/>
        </p:nvSpPr>
        <p:spPr>
          <a:xfrm>
            <a:off x="6309360" y="1280160"/>
            <a:ext cx="2743200" cy="256032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Benefits of the solution</a:t>
            </a:r>
          </a:p>
        </p:txBody>
      </p:sp>
      <p:sp>
        <p:nvSpPr>
          <p:cNvPr id="17429" name="Oval 17428"/>
          <p:cNvSpPr/>
          <p:nvPr/>
        </p:nvSpPr>
        <p:spPr>
          <a:xfrm>
            <a:off x="6309360" y="1691640"/>
            <a:ext cx="384048" cy="384048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0" name="Picture 17429" descr="FaUse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3850" y="1776130"/>
            <a:ext cx="215066" cy="215066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6784848" y="1655064"/>
            <a:ext cx="48920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Social</a:t>
            </a:r>
            <a:r>
              <a:rPr sz="1100" b="0">
                <a:solidFill>
                  <a:srgbClr val="1A1A1A"/>
                </a:solidFill>
                <a:latin typeface="Calibri"/>
              </a:rPr>
              <a:t> — faster, evidence-backed answers in disasters; wider access to space data</a:t>
            </a:r>
          </a:p>
        </p:txBody>
      </p:sp>
      <p:sp>
        <p:nvSpPr>
          <p:cNvPr id="17432" name="Oval 17431"/>
          <p:cNvSpPr/>
          <p:nvPr/>
        </p:nvSpPr>
        <p:spPr>
          <a:xfrm>
            <a:off x="6309360" y="2276856"/>
            <a:ext cx="384048" cy="384048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3" name="Picture 17432" descr="FaRupeeSig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3850" y="2361346"/>
            <a:ext cx="215066" cy="215066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6784848" y="2240280"/>
            <a:ext cx="48920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Economic</a:t>
            </a:r>
            <a:r>
              <a:rPr sz="1100" b="0">
                <a:solidFill>
                  <a:srgbClr val="1A1A1A"/>
                </a:solidFill>
                <a:latin typeface="Calibri"/>
              </a:rPr>
              <a:t> — less specialist time per question; open-source, no licence cost</a:t>
            </a:r>
          </a:p>
        </p:txBody>
      </p:sp>
      <p:sp>
        <p:nvSpPr>
          <p:cNvPr id="17435" name="Oval 17434"/>
          <p:cNvSpPr/>
          <p:nvPr/>
        </p:nvSpPr>
        <p:spPr>
          <a:xfrm>
            <a:off x="6309360" y="2862072"/>
            <a:ext cx="384048" cy="384048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6" name="Picture 17435" descr="FaLea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3850" y="2946562"/>
            <a:ext cx="215066" cy="215066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6784848" y="2825496"/>
            <a:ext cx="48920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Environmental</a:t>
            </a:r>
            <a:r>
              <a:rPr sz="1100" b="0">
                <a:solidFill>
                  <a:srgbClr val="1A1A1A"/>
                </a:solidFill>
                <a:latin typeface="Calibri"/>
              </a:rPr>
              <a:t> — monitor vegetation, water and land-use change over time</a:t>
            </a:r>
          </a:p>
        </p:txBody>
      </p:sp>
      <p:sp>
        <p:nvSpPr>
          <p:cNvPr id="17438" name="Oval 17437"/>
          <p:cNvSpPr/>
          <p:nvPr/>
        </p:nvSpPr>
        <p:spPr>
          <a:xfrm>
            <a:off x="6309360" y="3447288"/>
            <a:ext cx="384048" cy="384048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9" name="Picture 17438" descr="FaUniversit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3850" y="3531778"/>
            <a:ext cx="215066" cy="215066"/>
          </a:xfrm>
          <a:prstGeom prst="rect">
            <a:avLst/>
          </a:prstGeom>
        </p:spPr>
      </p:pic>
      <p:sp>
        <p:nvSpPr>
          <p:cNvPr id="17440" name="TextBox 17439"/>
          <p:cNvSpPr txBox="1"/>
          <p:nvPr/>
        </p:nvSpPr>
        <p:spPr>
          <a:xfrm>
            <a:off x="6784848" y="3410712"/>
            <a:ext cx="48920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Governance</a:t>
            </a:r>
            <a:r>
              <a:rPr sz="1100" b="0">
                <a:solidFill>
                  <a:srgbClr val="1A1A1A"/>
                </a:solidFill>
                <a:latin typeface="Calibri"/>
              </a:rPr>
              <a:t> — every answer traceable to a measurement — fit for official use</a:t>
            </a:r>
          </a:p>
        </p:txBody>
      </p:sp>
      <p:graphicFrame>
        <p:nvGraphicFramePr>
          <p:cNvPr id="17441" name="Table 17440"/>
          <p:cNvGraphicFramePr>
            <a:graphicFrameLocks noGrp="1"/>
          </p:cNvGraphicFramePr>
          <p:nvPr/>
        </p:nvGraphicFramePr>
        <p:xfrm>
          <a:off x="365760" y="4251960"/>
          <a:ext cx="7589520" cy="18653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4720"/>
                <a:gridCol w="1371600"/>
                <a:gridCol w="1371600"/>
                <a:gridCol w="13716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Single-task RS tool</a:t>
                      </a:r>
                    </a:p>
                  </a:txBody>
                  <a:tcPr marL="64008" marR="64008" marT="27432" marB="27432" anchor="ctr">
                    <a:solidFill>
                      <a:srgbClr val="5F6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Generic AI chatbot</a:t>
                      </a:r>
                    </a:p>
                  </a:txBody>
                  <a:tcPr marL="64008" marR="64008" marT="27432" marB="27432" anchor="ctr">
                    <a:solidFill>
                      <a:srgbClr val="5F6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SatQuery AI</a:t>
                      </a:r>
                    </a:p>
                  </a:txBody>
                  <a:tcPr marL="64008" marR="64008" marT="27432" marB="27432" anchor="ctr">
                    <a:solidFill>
                      <a:srgbClr val="2E7D4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Ask in plain language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B6FB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B6FB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Picks the right analysis automatically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B6FB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Checks inputs, refuses impossible questions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B6FB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Optical + SAR together (sees under cloud)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◐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B6FB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Every number traceable to a measurement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B6FB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B6FB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42" name="Rounded Rectangle 17441"/>
          <p:cNvSpPr/>
          <p:nvPr/>
        </p:nvSpPr>
        <p:spPr>
          <a:xfrm>
            <a:off x="8138160" y="4251960"/>
            <a:ext cx="3657600" cy="1865376"/>
          </a:xfrm>
          <a:prstGeom prst="roundRect">
            <a:avLst>
              <a:gd name="adj" fmla="val 8000"/>
            </a:avLst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Oval 17442"/>
          <p:cNvSpPr/>
          <p:nvPr/>
        </p:nvSpPr>
        <p:spPr>
          <a:xfrm>
            <a:off x="8275320" y="4389120"/>
            <a:ext cx="457200" cy="457200"/>
          </a:xfrm>
          <a:prstGeom prst="ellipse">
            <a:avLst/>
          </a:prstGeom>
          <a:solidFill>
            <a:srgbClr val="D9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4" name="Picture 17443" descr="FaClou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75904" y="4489704"/>
            <a:ext cx="256032" cy="256032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8823960" y="4352544"/>
            <a:ext cx="2880360" cy="1737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Works where the camera can’t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Radar sees through cloud and at night. Fusing it with optical turns a cloudy scene into a measured answer.</a:t>
            </a:r>
          </a:p>
          <a:p>
            <a:pPr algn="l">
              <a:spcAft>
                <a:spcPts val="400"/>
              </a:spcAft>
            </a:pPr>
            <a:r>
              <a:rPr sz="1100" b="1" i="1">
                <a:solidFill>
                  <a:srgbClr val="D9661F"/>
                </a:solidFill>
                <a:latin typeface="Calibri"/>
              </a:rPr>
              <a:t>Add one real-world number here, with its source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09728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6FB8"/>
                </a:solidFill>
                <a:latin typeface="Calibri"/>
              </a:rPr>
              <a:t>Details / Links of the reference and research work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365760" y="1463040"/>
          <a:ext cx="7406640" cy="18836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360"/>
                <a:gridCol w="2834640"/>
                <a:gridCol w="283464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Conventional RS tools / generic VLMs</a:t>
                      </a:r>
                    </a:p>
                  </a:txBody>
                  <a:tcPr marL="64008" marR="64008" marT="27432" marB="27432" anchor="ctr">
                    <a:solidFill>
                      <a:srgbClr val="5F6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SatQuery AI</a:t>
                      </a:r>
                    </a:p>
                  </a:txBody>
                  <a:tcPr marL="64008" marR="64008" marT="27432" marB="27432" anchor="ctr">
                    <a:solidFill>
                      <a:srgbClr val="2E7D4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Interface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GIS software, expert-only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7D4F"/>
                          </a:solidFill>
                          <a:latin typeface="Calibri"/>
                        </a:rPr>
                        <a:t>Plain-language question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Model choice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Manual, one task per tool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7D4F"/>
                          </a:solidFill>
                          <a:latin typeface="Calibri"/>
                        </a:rPr>
                        <a:t>Automatic, from a fixed registry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Input checking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Assumed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7D4F"/>
                          </a:solidFill>
                          <a:latin typeface="Calibri"/>
                        </a:rPr>
                        <a:t>Validated — impossible questions refused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Sensors &amp; time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One image, one sensor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7D4F"/>
                          </a:solidFill>
                          <a:latin typeface="Calibri"/>
                        </a:rPr>
                        <a:t>Optical + SAR fusion; two-date change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Explainability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Free text or a score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7D4F"/>
                          </a:solidFill>
                          <a:latin typeface="Calibri"/>
                        </a:rPr>
                        <a:t>Evidence + confidence + execution trace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2" name="Rounded Rectangle 17411"/>
          <p:cNvSpPr/>
          <p:nvPr/>
        </p:nvSpPr>
        <p:spPr>
          <a:xfrm>
            <a:off x="8001000" y="1463040"/>
            <a:ext cx="3794760" cy="256032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PROJECT RESOURCES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001000" y="1764792"/>
            <a:ext cx="3794760" cy="1444752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4" name="Picture 17413" descr="refusal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828800"/>
            <a:ext cx="1783080" cy="1286759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9948672" y="1828800"/>
            <a:ext cx="180136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Prototype:</a:t>
            </a:r>
            <a:r>
              <a:rPr sz="1000" b="0">
                <a:solidFill>
                  <a:srgbClr val="1A1A1A"/>
                </a:solidFill>
                <a:latin typeface="Calibri"/>
              </a:rPr>
              <a:t> </a:t>
            </a:r>
            <a:r>
              <a:rPr sz="1000" b="1" i="1">
                <a:solidFill>
                  <a:srgbClr val="D9661F"/>
                </a:solidFill>
                <a:latin typeface="Calibri"/>
              </a:rPr>
              <a:t>link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Demo video:</a:t>
            </a:r>
            <a:r>
              <a:rPr sz="1000" b="0">
                <a:solidFill>
                  <a:srgbClr val="1A1A1A"/>
                </a:solidFill>
                <a:latin typeface="Calibri"/>
              </a:rPr>
              <a:t> </a:t>
            </a:r>
            <a:r>
              <a:rPr sz="1000" b="1" i="1">
                <a:solidFill>
                  <a:srgbClr val="D9661F"/>
                </a:solidFill>
                <a:latin typeface="Calibri"/>
              </a:rPr>
              <a:t>link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GitHub:</a:t>
            </a:r>
            <a:r>
              <a:rPr sz="1000" b="0">
                <a:solidFill>
                  <a:srgbClr val="1A1A1A"/>
                </a:solidFill>
                <a:latin typeface="Calibri"/>
              </a:rPr>
              <a:t> </a:t>
            </a:r>
            <a:r>
              <a:rPr sz="1000" b="1" i="1">
                <a:solidFill>
                  <a:srgbClr val="D9661F"/>
                </a:solidFill>
                <a:latin typeface="Calibri"/>
              </a:rPr>
              <a:t>link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Refusal demo</a:t>
            </a:r>
            <a:r>
              <a:rPr sz="1000" b="0">
                <a:solidFill>
                  <a:srgbClr val="1A1A1A"/>
                </a:solidFill>
                <a:latin typeface="Calibri"/>
              </a:rPr>
              <a:t> — no model invoked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65760" y="352044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References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65760" y="3822191"/>
            <a:ext cx="7406640" cy="2468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[1] SIH 2026, PS26167 “SatQuery AI”, ISRO — official problem statement.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[2] BigEarthNet.txt — named in the PS: arxiv.org/abs/2603.29630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[3] VRSBench, remote-sensing vision-language benchmark — huggingface.co/datasets/xiang709/VRSBench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[4] S. Lobry et al., “RSVQA: Visual Question Answering for Remote Sensing Data,” IEEE TGRS, 2020.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[5] CDVQA, change-detection visual question answering benchmark — named in the PS.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[6] J.-S. Lee, “Digital image enhancement and noise filtering by use of local statistics,” IEEE TPAMI, 1980.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[7] N. Otsu, “A threshold selection method from gray-level histograms,” IEEE Trans. SMC, 1979.</a:t>
            </a:r>
          </a:p>
          <a:p>
            <a:pPr algn="l">
              <a:spcAft>
                <a:spcPts val="200"/>
              </a:spcAft>
            </a:pPr>
            <a:r>
              <a:rPr sz="1050" b="1" i="1">
                <a:solidFill>
                  <a:srgbClr val="D9661F"/>
                </a:solidFill>
                <a:latin typeface="Calibri"/>
              </a:rPr>
              <a:t>Add model papers from the model document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001000" y="3346704"/>
            <a:ext cx="3794760" cy="256032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DATASETS NAMED IN THE PS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001000" y="3648456"/>
            <a:ext cx="3794760" cy="2578608"/>
          </a:xfrm>
          <a:prstGeom prst="roundRect">
            <a:avLst>
              <a:gd name="adj" fmla="val 8000"/>
            </a:avLst>
          </a:prstGeom>
          <a:solidFill>
            <a:srgbClr val="E2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Oval 17419"/>
          <p:cNvSpPr/>
          <p:nvPr/>
        </p:nvSpPr>
        <p:spPr>
          <a:xfrm>
            <a:off x="8119872" y="3785615"/>
            <a:ext cx="384048" cy="384048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1" name="Picture 17420" descr="Fa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4362" y="3870106"/>
            <a:ext cx="215066" cy="215066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8595360" y="3749039"/>
            <a:ext cx="312724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BigEarthNet.txt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Sentinel-1 SAR + Sentinel-2 optical, with text — adaptation</a:t>
            </a:r>
          </a:p>
        </p:txBody>
      </p:sp>
      <p:sp>
        <p:nvSpPr>
          <p:cNvPr id="17423" name="Oval 17422"/>
          <p:cNvSpPr/>
          <p:nvPr/>
        </p:nvSpPr>
        <p:spPr>
          <a:xfrm>
            <a:off x="8119872" y="4398264"/>
            <a:ext cx="384048" cy="384048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4" name="Picture 17423" descr="FaCommen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4362" y="4482754"/>
            <a:ext cx="215066" cy="215066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8595360" y="4361688"/>
            <a:ext cx="312724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VRSBench · RSVQA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single-image VQA, grounding, captioning — evaluation</a:t>
            </a:r>
          </a:p>
        </p:txBody>
      </p:sp>
      <p:sp>
        <p:nvSpPr>
          <p:cNvPr id="17426" name="Oval 17425"/>
          <p:cNvSpPr/>
          <p:nvPr/>
        </p:nvSpPr>
        <p:spPr>
          <a:xfrm>
            <a:off x="8119872" y="5010912"/>
            <a:ext cx="384048" cy="384048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7" name="Picture 17426" descr="FaExchangeA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4362" y="5095402"/>
            <a:ext cx="215066" cy="215066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8595360" y="4974336"/>
            <a:ext cx="312724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CDVQA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change-based question answering — evaluation</a:t>
            </a:r>
          </a:p>
        </p:txBody>
      </p:sp>
      <p:sp>
        <p:nvSpPr>
          <p:cNvPr id="17429" name="Oval 17428"/>
          <p:cNvSpPr/>
          <p:nvPr/>
        </p:nvSpPr>
        <p:spPr>
          <a:xfrm>
            <a:off x="8119872" y="5623559"/>
            <a:ext cx="384048" cy="384048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0" name="Picture 17429" descr="Fa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362" y="5708050"/>
            <a:ext cx="215066" cy="215066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8595360" y="5586983"/>
            <a:ext cx="312724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ISRO/SAC set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Cartosat-2S + RISAT pairs, answers hidden — final scoring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